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9"/>
  </p:notesMasterIdLst>
  <p:sldIdLst>
    <p:sldId id="256" r:id="rId2"/>
    <p:sldId id="263" r:id="rId3"/>
    <p:sldId id="257" r:id="rId4"/>
    <p:sldId id="258" r:id="rId5"/>
    <p:sldId id="260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54"/>
    <p:restoredTop sz="94694"/>
  </p:normalViewPr>
  <p:slideViewPr>
    <p:cSldViewPr snapToGrid="0">
      <p:cViewPr varScale="1">
        <p:scale>
          <a:sx n="90" d="100"/>
          <a:sy n="90" d="100"/>
        </p:scale>
        <p:origin x="23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GB" dirty="0"/>
              <a:t>  Statistics &amp; ML</a:t>
            </a:r>
          </a:p>
        </c:rich>
      </c:tx>
      <c:layout>
        <c:manualLayout>
          <c:xMode val="edge"/>
          <c:yMode val="edge"/>
          <c:x val="0.37056064995392513"/>
          <c:y val="5.22165945626209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CH"/>
        </a:p>
      </c:txPr>
    </c:title>
    <c:autoTitleDeleted val="0"/>
    <c:plotArea>
      <c:layout>
        <c:manualLayout>
          <c:layoutTarget val="inner"/>
          <c:xMode val="edge"/>
          <c:yMode val="edge"/>
          <c:x val="2.4344279872959281E-2"/>
          <c:y val="0.19909223726691522"/>
          <c:w val="0.95209025551120674"/>
          <c:h val="0.6913392999546061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CH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Sheet1!$D$6:$D$13</c:f>
              <c:strCache>
                <c:ptCount val="8"/>
                <c:pt idx="0">
                  <c:v>JASA</c:v>
                </c:pt>
                <c:pt idx="1">
                  <c:v>AoS</c:v>
                </c:pt>
                <c:pt idx="2">
                  <c:v>JMLR</c:v>
                </c:pt>
                <c:pt idx="3">
                  <c:v>EcoStats</c:v>
                </c:pt>
                <c:pt idx="4">
                  <c:v>CSDA</c:v>
                </c:pt>
                <c:pt idx="5">
                  <c:v>Int Stat Rev</c:v>
                </c:pt>
                <c:pt idx="6">
                  <c:v>AoP</c:v>
                </c:pt>
                <c:pt idx="7">
                  <c:v>JSS</c:v>
                </c:pt>
              </c:strCache>
            </c:strRef>
          </c:cat>
          <c:val>
            <c:numRef>
              <c:f>Sheet1!$E$6:$E$13</c:f>
              <c:numCache>
                <c:formatCode>General</c:formatCode>
                <c:ptCount val="8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4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A8-6A4C-B56A-26943C539BD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975564655"/>
        <c:axId val="646435071"/>
      </c:barChart>
      <c:catAx>
        <c:axId val="1975564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 w="12700">
                  <a:solidFill>
                    <a:schemeClr val="tx1"/>
                  </a:solidFill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CH"/>
          </a:p>
        </c:txPr>
        <c:crossAx val="646435071"/>
        <c:crosses val="autoZero"/>
        <c:auto val="0"/>
        <c:lblAlgn val="ctr"/>
        <c:lblOffset val="100"/>
        <c:noMultiLvlLbl val="0"/>
      </c:catAx>
      <c:valAx>
        <c:axId val="6464350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75564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GB" dirty="0"/>
              <a:t>Info Science</a:t>
            </a:r>
          </a:p>
        </c:rich>
      </c:tx>
      <c:layout>
        <c:manualLayout>
          <c:xMode val="edge"/>
          <c:yMode val="edge"/>
          <c:x val="0.43169214678798751"/>
          <c:y val="4.908127826104988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CH"/>
        </a:p>
      </c:txPr>
    </c:title>
    <c:autoTitleDeleted val="0"/>
    <c:plotArea>
      <c:layout>
        <c:manualLayout>
          <c:layoutTarget val="inner"/>
          <c:xMode val="edge"/>
          <c:yMode val="edge"/>
          <c:x val="2.4344279872959281E-2"/>
          <c:y val="0.19909223726691522"/>
          <c:w val="0.95209025551120674"/>
          <c:h val="0.6913392999546061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CH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Sheet1!$D$6:$D$13</c:f>
              <c:strCache>
                <c:ptCount val="8"/>
                <c:pt idx="0">
                  <c:v>JASA</c:v>
                </c:pt>
                <c:pt idx="1">
                  <c:v>AoS</c:v>
                </c:pt>
                <c:pt idx="2">
                  <c:v>JMLR</c:v>
                </c:pt>
                <c:pt idx="3">
                  <c:v>EcoStats</c:v>
                </c:pt>
                <c:pt idx="4">
                  <c:v>CSDA</c:v>
                </c:pt>
                <c:pt idx="5">
                  <c:v>Int Stat Rev</c:v>
                </c:pt>
                <c:pt idx="6">
                  <c:v>AoP</c:v>
                </c:pt>
                <c:pt idx="7">
                  <c:v>JSS</c:v>
                </c:pt>
              </c:strCache>
            </c:strRef>
          </c:cat>
          <c:val>
            <c:numRef>
              <c:f>Sheet1!$E$6:$E$13</c:f>
              <c:numCache>
                <c:formatCode>General</c:formatCode>
                <c:ptCount val="8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4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4D-B549-8C8D-941A7CD96A9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975564655"/>
        <c:axId val="646435071"/>
      </c:barChart>
      <c:catAx>
        <c:axId val="1975564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 w="12700">
                  <a:solidFill>
                    <a:schemeClr val="tx1"/>
                  </a:solidFill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CH"/>
          </a:p>
        </c:txPr>
        <c:crossAx val="646435071"/>
        <c:crosses val="autoZero"/>
        <c:auto val="0"/>
        <c:lblAlgn val="ctr"/>
        <c:lblOffset val="100"/>
        <c:noMultiLvlLbl val="0"/>
      </c:catAx>
      <c:valAx>
        <c:axId val="6464350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75564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7552D-A576-134D-B0C1-E64AE26481E2}" type="datetimeFigureOut">
              <a:rPr lang="en-CH" smtClean="0"/>
              <a:t>04.11.2025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779B0-D032-FE4E-B11B-3B950D9EA55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12789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8B863-7038-445E-69B8-D76A8DCB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12751-EF01-B5DD-399F-29BFB539C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0E9E7-5181-B940-AAC3-B540A06A1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FD043-DE49-7F40-8883-1A2C73C99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779B0-D032-FE4E-B11B-3B950D9EA557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23164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61E03-20AF-947D-1D3E-9FD0A3B06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8AEB7-DB72-6D8D-B2D6-6EDD94E5C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0CC04-35E7-5E4F-0914-5AF73A9B0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B2186-7837-6DFB-9494-7A920FF17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779B0-D032-FE4E-B11B-3B950D9EA557}" type="slidenum">
              <a:rPr lang="en-CH" smtClean="0"/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60223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F3297-60D1-F260-9DD1-062BCC16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6041C-4454-CDDA-00EC-D20B746A7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70160-668D-B6F3-AA47-9B275EB7E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AEB25-AD18-6664-66B2-1F7665662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779B0-D032-FE4E-B11B-3B950D9EA557}" type="slidenum">
              <a:rPr lang="en-CH" smtClean="0"/>
              <a:t>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8162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ABDA7-8702-D648-83E4-26423421387A}" type="datetime1">
              <a:rPr lang="de-CH" smtClean="0"/>
              <a:t>04.11.25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B489-0515-914B-81C0-3980D1AD7FCF}" type="datetime1">
              <a:rPr lang="de-CH" smtClean="0"/>
              <a:t>04.11.25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1F9C-6A9E-F641-8164-53F79D3F30D9}" type="datetime1">
              <a:rPr lang="de-CH" smtClean="0"/>
              <a:t>04.11.25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A7AE-6B9D-0845-9BAC-1B4E0F8596A7}" type="datetime1">
              <a:rPr lang="de-CH" smtClean="0"/>
              <a:t>04.11.25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A1E5-EF59-AB4F-8B16-87565A55937A}" type="datetime1">
              <a:rPr lang="de-CH" smtClean="0"/>
              <a:t>04.11.25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72DD-2EC0-FC41-A301-FB2F05B3CDDF}" type="datetime1">
              <a:rPr lang="de-CH" smtClean="0"/>
              <a:t>04.11.25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1BBC-3865-8641-8D51-0762E8C9C11E}" type="datetime1">
              <a:rPr lang="de-CH" smtClean="0"/>
              <a:t>04.11.25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617E2-5514-6B42-AF65-6157B6283E91}" type="datetime1">
              <a:rPr lang="de-CH" smtClean="0"/>
              <a:t>04.11.25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C04E73D-C18A-FA45-9D37-2AE57C607061}" type="datetime1">
              <a:rPr lang="de-CH" smtClean="0"/>
              <a:t>04.11.25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ECA4-36BF-B442-86FB-B8802A0C52BA}" type="datetime1">
              <a:rPr lang="de-CH" smtClean="0"/>
              <a:t>04.11.25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8E35-A176-824F-A101-7CDEC942B139}" type="datetime1">
              <a:rPr lang="de-CH" smtClean="0"/>
              <a:t>04.11.25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4260C3C-35BC-7344-AD99-0671C56E055C}" type="datetime1">
              <a:rPr lang="de-CH" smtClean="0"/>
              <a:t>04.11.25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tx1">
                <a:lumMod val="95000"/>
              </a:schemeClr>
            </a:gs>
            <a:gs pos="58000">
              <a:schemeClr val="accent2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AEBE1-CCBA-2BA6-073B-A46EF2D79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CH" dirty="0"/>
              <a:t>Research institute for statistics and information science</a:t>
            </a:r>
            <a:br>
              <a:rPr lang="en-CH" dirty="0"/>
            </a:br>
            <a:r>
              <a:rPr lang="en-CH" dirty="0"/>
              <a:t>(RISIS)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AD04D-3BB4-C78D-45BB-FDCCE477AA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20-Nov-2025, GSEM faculty meeting</a:t>
            </a:r>
          </a:p>
        </p:txBody>
      </p:sp>
    </p:spTree>
    <p:extLst>
      <p:ext uri="{BB962C8B-B14F-4D97-AF65-F5344CB8AC3E}">
        <p14:creationId xmlns:p14="http://schemas.microsoft.com/office/powerpoint/2010/main" val="1446936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2">
                <a:lumMod val="75000"/>
              </a:schemeClr>
            </a:gs>
            <a:gs pos="68000">
              <a:schemeClr val="accent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6E2EC4-CB8F-B9B6-D2A3-4657C67D7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B938F-9F33-EDB3-BD42-DDF8442E1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05104"/>
            <a:ext cx="7729728" cy="629188"/>
          </a:xfrm>
        </p:spPr>
        <p:txBody>
          <a:bodyPr>
            <a:noAutofit/>
          </a:bodyPr>
          <a:lstStyle/>
          <a:p>
            <a:r>
              <a:rPr lang="en-CH" dirty="0"/>
              <a:t>PAST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B253202-E738-F35D-3684-04B9D92BBEBA}"/>
              </a:ext>
            </a:extLst>
          </p:cNvPr>
          <p:cNvSpPr/>
          <p:nvPr/>
        </p:nvSpPr>
        <p:spPr>
          <a:xfrm>
            <a:off x="174850" y="1261241"/>
            <a:ext cx="3058510" cy="299544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2400" dirty="0"/>
              <a:t>Reseach Center for Statistics</a:t>
            </a:r>
          </a:p>
          <a:p>
            <a:pPr algn="ctr"/>
            <a:r>
              <a:rPr lang="en-CH" sz="2400" dirty="0"/>
              <a:t>(RCS)</a:t>
            </a:r>
          </a:p>
          <a:p>
            <a:pPr algn="ctr"/>
            <a:r>
              <a:rPr lang="en-CH" dirty="0"/>
              <a:t>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34AFD4-2566-12A9-A535-439EE7A59724}"/>
              </a:ext>
            </a:extLst>
          </p:cNvPr>
          <p:cNvSpPr/>
          <p:nvPr/>
        </p:nvSpPr>
        <p:spPr>
          <a:xfrm>
            <a:off x="9002110" y="1108124"/>
            <a:ext cx="3058510" cy="299544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2400" dirty="0"/>
              <a:t>Information Science Institute</a:t>
            </a:r>
          </a:p>
          <a:p>
            <a:pPr algn="ctr"/>
            <a:r>
              <a:rPr lang="en-CH" sz="2400" dirty="0"/>
              <a:t>(ISI)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67EB8E-578E-1B4E-C7B6-301E9A3532CA}"/>
              </a:ext>
            </a:extLst>
          </p:cNvPr>
          <p:cNvSpPr/>
          <p:nvPr/>
        </p:nvSpPr>
        <p:spPr>
          <a:xfrm>
            <a:off x="4646525" y="3757447"/>
            <a:ext cx="3058510" cy="299544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2400" dirty="0"/>
              <a:t>Research Institute for Statisitcs and Information Science</a:t>
            </a:r>
          </a:p>
          <a:p>
            <a:pPr algn="ctr"/>
            <a:r>
              <a:rPr lang="en-CH" sz="2400" dirty="0"/>
              <a:t>(RISIS)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7D15D8-5C43-8684-2728-2E5F48C7EDC9}"/>
              </a:ext>
            </a:extLst>
          </p:cNvPr>
          <p:cNvSpPr txBox="1"/>
          <p:nvPr/>
        </p:nvSpPr>
        <p:spPr>
          <a:xfrm>
            <a:off x="8050924" y="5349766"/>
            <a:ext cx="1527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000" dirty="0"/>
              <a:t>Jaunary 2024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0C00FE-264B-C690-B0A1-C289B40B0F80}"/>
              </a:ext>
            </a:extLst>
          </p:cNvPr>
          <p:cNvCxnSpPr>
            <a:cxnSpLocks/>
          </p:cNvCxnSpPr>
          <p:nvPr/>
        </p:nvCxnSpPr>
        <p:spPr>
          <a:xfrm>
            <a:off x="3538642" y="3325091"/>
            <a:ext cx="1369689" cy="837006"/>
          </a:xfrm>
          <a:prstGeom prst="straightConnector1">
            <a:avLst/>
          </a:prstGeom>
          <a:ln w="1873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836438-ECCA-4C6C-8CE0-CA23D83C3331}"/>
              </a:ext>
            </a:extLst>
          </p:cNvPr>
          <p:cNvCxnSpPr>
            <a:cxnSpLocks/>
          </p:cNvCxnSpPr>
          <p:nvPr/>
        </p:nvCxnSpPr>
        <p:spPr>
          <a:xfrm flipH="1">
            <a:off x="7472855" y="3342826"/>
            <a:ext cx="1272223" cy="913864"/>
          </a:xfrm>
          <a:prstGeom prst="straightConnector1">
            <a:avLst/>
          </a:prstGeom>
          <a:ln w="1873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370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2">
                <a:lumMod val="75000"/>
              </a:schemeClr>
            </a:gs>
            <a:gs pos="86000">
              <a:schemeClr val="accent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038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2">
                <a:lumMod val="75000"/>
              </a:schemeClr>
            </a:gs>
            <a:gs pos="86000">
              <a:schemeClr val="accent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721932-76E0-F164-C8D9-76CB47CC7E63}"/>
              </a:ext>
            </a:extLst>
          </p:cNvPr>
          <p:cNvSpPr txBox="1"/>
          <p:nvPr/>
        </p:nvSpPr>
        <p:spPr>
          <a:xfrm>
            <a:off x="228600" y="712581"/>
            <a:ext cx="11744325" cy="5863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FF0000"/>
                </a:solidFill>
              </a:rPr>
              <a:t>Teaching</a:t>
            </a:r>
            <a:r>
              <a:rPr lang="en-GB" sz="4000" b="1" dirty="0">
                <a:solidFill>
                  <a:srgbClr val="0070C0"/>
                </a:solidFill>
              </a:rPr>
              <a:t> </a:t>
            </a:r>
          </a:p>
          <a:p>
            <a:pPr algn="ctr"/>
            <a:endParaRPr lang="en-GB" sz="2000" b="1" dirty="0">
              <a:solidFill>
                <a:srgbClr val="0070C0"/>
              </a:solidFill>
            </a:endParaRPr>
          </a:p>
          <a:p>
            <a:pPr marL="457200" indent="-457200">
              <a:buFontTx/>
              <a:buChar char="-"/>
            </a:pPr>
            <a:r>
              <a:rPr lang="en-GB" sz="2400" dirty="0">
                <a:solidFill>
                  <a:srgbClr val="FF0000"/>
                </a:solidFill>
              </a:rPr>
              <a:t>Bachelor program at GSEM &amp; GSI</a:t>
            </a:r>
            <a:r>
              <a:rPr lang="en-GB" sz="2400" dirty="0"/>
              <a:t>: </a:t>
            </a:r>
            <a:r>
              <a:rPr lang="en-GB" sz="2400" i="1" dirty="0"/>
              <a:t>Maths I, Maths II, Prob, Stats, Business Analytics,  Numerical Methods, Statistical literacy and data skills for the SDGs,  </a:t>
            </a:r>
            <a:r>
              <a:rPr lang="en-GB" sz="2400" i="1" dirty="0" err="1"/>
              <a:t>Algorithmique</a:t>
            </a:r>
            <a:r>
              <a:rPr lang="en-GB" sz="2400" i="1" dirty="0"/>
              <a:t> </a:t>
            </a:r>
            <a:r>
              <a:rPr lang="en-GB" sz="2400" i="1" dirty="0" err="1"/>
              <a:t>appliquée</a:t>
            </a:r>
            <a:r>
              <a:rPr lang="en-GB" sz="2400" i="1" dirty="0"/>
              <a:t>, Communication  Networks </a:t>
            </a:r>
          </a:p>
          <a:p>
            <a:pPr marL="457200" indent="-457200">
              <a:buFontTx/>
              <a:buChar char="-"/>
            </a:pPr>
            <a:endParaRPr lang="en-GB" sz="2400" dirty="0"/>
          </a:p>
          <a:p>
            <a:pPr marL="457200" indent="-457200">
              <a:buFontTx/>
              <a:buChar char="-"/>
            </a:pPr>
            <a:r>
              <a:rPr lang="en-GB" sz="2400" dirty="0">
                <a:solidFill>
                  <a:srgbClr val="FF0000"/>
                </a:solidFill>
              </a:rPr>
              <a:t>two MSc programs (MaBan &amp; </a:t>
            </a:r>
            <a:r>
              <a:rPr lang="en-GB" sz="2400" dirty="0" err="1">
                <a:solidFill>
                  <a:srgbClr val="FF0000"/>
                </a:solidFill>
              </a:rPr>
              <a:t>MaStats</a:t>
            </a:r>
            <a:r>
              <a:rPr lang="en-GB" sz="2400" dirty="0">
                <a:solidFill>
                  <a:srgbClr val="FF0000"/>
                </a:solidFill>
              </a:rPr>
              <a:t>)</a:t>
            </a:r>
            <a:r>
              <a:rPr lang="en-GB" sz="2400" dirty="0"/>
              <a:t>:  </a:t>
            </a:r>
            <a:r>
              <a:rPr lang="en-GB" sz="2400" i="1" dirty="0"/>
              <a:t>Machine Learning, Time Series, Applied Bayesian Analysis, Analytics Consulting, Algorithmics and Data Management, Crowdsourcing and AI…</a:t>
            </a:r>
          </a:p>
          <a:p>
            <a:pPr marL="457200" indent="-457200">
              <a:buFontTx/>
              <a:buChar char="-"/>
            </a:pPr>
            <a:endParaRPr lang="en-GB" sz="2400" dirty="0"/>
          </a:p>
          <a:p>
            <a:pPr marL="457200" indent="-457200">
              <a:buFontTx/>
              <a:buChar char="-"/>
            </a:pPr>
            <a:r>
              <a:rPr lang="en-GB" sz="2400" dirty="0">
                <a:solidFill>
                  <a:srgbClr val="FF0000"/>
                </a:solidFill>
              </a:rPr>
              <a:t>two Ph.D. programs </a:t>
            </a:r>
            <a:r>
              <a:rPr lang="en-GB" sz="2400" dirty="0"/>
              <a:t>(Stats and Info Science) </a:t>
            </a:r>
          </a:p>
          <a:p>
            <a:pPr marL="457200" indent="-457200">
              <a:buFontTx/>
              <a:buChar char="-"/>
            </a:pPr>
            <a:endParaRPr lang="en-GB" sz="2400" dirty="0"/>
          </a:p>
          <a:p>
            <a:pPr marL="457200" indent="-457200">
              <a:buFontTx/>
              <a:buChar char="-"/>
            </a:pPr>
            <a:r>
              <a:rPr lang="en-GB" sz="2400" dirty="0">
                <a:solidFill>
                  <a:srgbClr val="FF0000"/>
                </a:solidFill>
              </a:rPr>
              <a:t>one interdisciplinary certificate program </a:t>
            </a:r>
            <a:r>
              <a:rPr lang="en-GB" sz="2400" dirty="0"/>
              <a:t>(CCSA)</a:t>
            </a:r>
          </a:p>
          <a:p>
            <a:pPr marL="457200" indent="-457200">
              <a:buFontTx/>
              <a:buChar char="-"/>
            </a:pPr>
            <a:endParaRPr lang="en-GB" sz="2400" dirty="0"/>
          </a:p>
          <a:p>
            <a:pPr marL="457200" indent="-457200">
              <a:buFontTx/>
              <a:buChar char="-"/>
            </a:pPr>
            <a:r>
              <a:rPr lang="en-GB" sz="2400" dirty="0">
                <a:solidFill>
                  <a:srgbClr val="FF0000"/>
                </a:solidFill>
              </a:rPr>
              <a:t>one course in executive program</a:t>
            </a:r>
          </a:p>
          <a:p>
            <a:pPr marL="1084263" lvl="5" indent="0">
              <a:buNone/>
            </a:pPr>
            <a:endParaRPr lang="en-CH" sz="2700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7B45EB19-21FB-5D5B-ABC9-9B53ED15731E}"/>
              </a:ext>
            </a:extLst>
          </p:cNvPr>
          <p:cNvSpPr/>
          <p:nvPr/>
        </p:nvSpPr>
        <p:spPr>
          <a:xfrm>
            <a:off x="5143929" y="5614797"/>
            <a:ext cx="1556690" cy="64633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76A910-43BE-2210-B0FD-C8AD706A2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4656"/>
            <a:ext cx="7729728" cy="657925"/>
          </a:xfrm>
        </p:spPr>
        <p:txBody>
          <a:bodyPr>
            <a:noAutofit/>
          </a:bodyPr>
          <a:lstStyle/>
          <a:p>
            <a:r>
              <a:rPr lang="en-CH" dirty="0"/>
              <a:t>Present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E5414-0B16-78A0-CEB3-545048DE27E0}"/>
              </a:ext>
            </a:extLst>
          </p:cNvPr>
          <p:cNvSpPr txBox="1"/>
          <p:nvPr/>
        </p:nvSpPr>
        <p:spPr>
          <a:xfrm>
            <a:off x="6857781" y="5522463"/>
            <a:ext cx="49579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T</a:t>
            </a:r>
            <a:r>
              <a:rPr lang="en-CH" sz="2400" dirty="0">
                <a:solidFill>
                  <a:srgbClr val="FF0000"/>
                </a:solidFill>
              </a:rPr>
              <a:t>hree RISIS memebers won the GSEM teaching awords in 2025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20AC079-4CD4-4275-D861-4AF5FE00A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7069" y="-8236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H" altLang="en-CH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three members of RISIS won GSEM teaching awards</a:t>
            </a:r>
            <a:endParaRPr kumimoji="0" lang="en-CH" altLang="en-CH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558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2">
                <a:lumMod val="75000"/>
              </a:schemeClr>
            </a:gs>
            <a:gs pos="86000">
              <a:schemeClr val="accent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05040-1F92-6330-B48F-A2A714BE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87F24-968C-86B8-6610-A9B973B80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823" y="771279"/>
            <a:ext cx="11668367" cy="5928101"/>
          </a:xfr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b="1" dirty="0">
                <a:solidFill>
                  <a:srgbClr val="0070C0"/>
                </a:solidFill>
              </a:rPr>
              <a:t>Rese</a:t>
            </a:r>
            <a:r>
              <a:rPr lang="en-GB" sz="4000" b="1" dirty="0">
                <a:solidFill>
                  <a:schemeClr val="accent1">
                    <a:lumMod val="75000"/>
                  </a:schemeClr>
                </a:solidFill>
              </a:rPr>
              <a:t>arch</a:t>
            </a:r>
          </a:p>
          <a:p>
            <a:pPr marL="0" indent="0" algn="ctr">
              <a:buNone/>
            </a:pPr>
            <a:endParaRPr lang="en-GB" sz="3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2400" dirty="0"/>
              <a:t> - 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fundamental and applied statistics, machine learning (ML), analytics, and information science</a:t>
            </a:r>
            <a:r>
              <a:rPr lang="en-GB" sz="2400" dirty="0"/>
              <a:t>, establishing </a:t>
            </a:r>
            <a:r>
              <a:rPr lang="en-GB" sz="2400" i="1" dirty="0"/>
              <a:t>theory &amp; methods </a:t>
            </a:r>
            <a:r>
              <a:rPr lang="en-GB" sz="2400" dirty="0"/>
              <a:t>that </a:t>
            </a:r>
            <a:r>
              <a:rPr lang="en-GB" sz="2400" i="1" dirty="0"/>
              <a:t>integrate statistics and ML within various disciplines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- through collaborations with national and international research institutions, RISIS ensures that its innovations translate into </a:t>
            </a:r>
            <a:r>
              <a:rPr lang="en-GB" sz="2400" b="1" dirty="0"/>
              <a:t>practical applications </a:t>
            </a:r>
          </a:p>
          <a:p>
            <a:pPr marL="0" indent="0">
              <a:buNone/>
            </a:pPr>
            <a:endParaRPr lang="en-GB" sz="24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GB" sz="2400" dirty="0"/>
              <a:t>- RISIS members act </a:t>
            </a:r>
            <a:r>
              <a:rPr lang="en-GB" sz="2400" b="1" dirty="0"/>
              <a:t>in various cantonal, national, and international boards</a:t>
            </a:r>
            <a:r>
              <a:rPr lang="en-GB" sz="2400" dirty="0"/>
              <a:t>, like the Federal Commission for Statistics and </a:t>
            </a:r>
            <a:r>
              <a:rPr lang="en-GB" sz="2400" dirty="0" err="1"/>
              <a:t>FENStatsS</a:t>
            </a:r>
            <a:r>
              <a:rPr lang="en-GB" sz="2400" dirty="0"/>
              <a:t> (Federation of the European National Statistical Societies), and co-initiated and co-authored the Swiss Data Literacy Charter.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9585D81-C715-8B81-2602-1BC17B89B8F2}"/>
              </a:ext>
            </a:extLst>
          </p:cNvPr>
          <p:cNvSpPr txBox="1">
            <a:spLocks/>
          </p:cNvSpPr>
          <p:nvPr/>
        </p:nvSpPr>
        <p:spPr bwMode="black">
          <a:xfrm>
            <a:off x="2231136" y="113354"/>
            <a:ext cx="7729728" cy="65792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/>
              <a:t>Present</a:t>
            </a:r>
          </a:p>
        </p:txBody>
      </p:sp>
    </p:spTree>
    <p:extLst>
      <p:ext uri="{BB962C8B-B14F-4D97-AF65-F5344CB8AC3E}">
        <p14:creationId xmlns:p14="http://schemas.microsoft.com/office/powerpoint/2010/main" val="785899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2">
                <a:lumMod val="75000"/>
              </a:schemeClr>
            </a:gs>
            <a:gs pos="86000">
              <a:schemeClr val="accent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B83787-49B2-A01A-81CC-4B058C6D9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2E6DC-20B1-9C1E-0FC7-373F96229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823" y="771279"/>
            <a:ext cx="11668367" cy="5928101"/>
          </a:xfrm>
          <a:solidFill>
            <a:schemeClr val="lt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b="1" dirty="0">
                <a:solidFill>
                  <a:srgbClr val="0070C0"/>
                </a:solidFill>
              </a:rPr>
              <a:t>Rese</a:t>
            </a:r>
            <a:r>
              <a:rPr lang="en-GB" sz="4000" b="1" dirty="0">
                <a:solidFill>
                  <a:schemeClr val="accent1"/>
                </a:solidFill>
              </a:rPr>
              <a:t>arch</a:t>
            </a:r>
            <a:endParaRPr lang="en-GB" sz="4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GB" sz="2700" dirty="0"/>
              <a:t> P</a:t>
            </a:r>
            <a:r>
              <a:rPr lang="en-GB" sz="2700" b="1" dirty="0"/>
              <a:t>ublications (2024-2025): commitment to high quality</a:t>
            </a:r>
          </a:p>
          <a:p>
            <a:pPr marL="0" indent="0">
              <a:buNone/>
            </a:pPr>
            <a:endParaRPr lang="en-GB" sz="2700" dirty="0"/>
          </a:p>
          <a:p>
            <a:endParaRPr lang="en-GB" sz="2700" dirty="0"/>
          </a:p>
          <a:p>
            <a:endParaRPr lang="en-GB" sz="2700" dirty="0"/>
          </a:p>
          <a:p>
            <a:endParaRPr lang="en-GB" sz="2700" dirty="0"/>
          </a:p>
          <a:p>
            <a:endParaRPr lang="en-GB" sz="2500" dirty="0"/>
          </a:p>
          <a:p>
            <a:endParaRPr lang="en-GB" sz="2500" dirty="0"/>
          </a:p>
          <a:p>
            <a:endParaRPr lang="en-GB" sz="2500" dirty="0"/>
          </a:p>
          <a:p>
            <a:pPr marL="0" indent="0">
              <a:buNone/>
            </a:pPr>
            <a:endParaRPr lang="en-GB" sz="25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1312392-92F6-72A3-7939-3CA5797EF7F6}"/>
              </a:ext>
            </a:extLst>
          </p:cNvPr>
          <p:cNvSpPr txBox="1">
            <a:spLocks/>
          </p:cNvSpPr>
          <p:nvPr/>
        </p:nvSpPr>
        <p:spPr bwMode="black">
          <a:xfrm>
            <a:off x="2231136" y="113354"/>
            <a:ext cx="7729728" cy="65792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/>
              <a:t>Present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5A81D35A-E875-20C8-66C2-967508F449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5812407"/>
              </p:ext>
            </p:extLst>
          </p:nvPr>
        </p:nvGraphicFramePr>
        <p:xfrm>
          <a:off x="692728" y="2443163"/>
          <a:ext cx="5193722" cy="4050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88AEE00-B241-C21E-E53F-D2DDE00E66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1331855"/>
              </p:ext>
            </p:extLst>
          </p:nvPr>
        </p:nvGraphicFramePr>
        <p:xfrm>
          <a:off x="6686455" y="2443163"/>
          <a:ext cx="5193722" cy="4050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64972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2">
                <a:lumMod val="75000"/>
              </a:schemeClr>
            </a:gs>
            <a:gs pos="86000">
              <a:schemeClr val="accent2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8B476-0A77-AD0C-DDA1-32250560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BD624-999E-FA4E-FE86-B8443BDFC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830" y="771279"/>
            <a:ext cx="11750339" cy="5672384"/>
          </a:xfr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4000" dirty="0">
                <a:solidFill>
                  <a:srgbClr val="0070C0"/>
                </a:solidFill>
              </a:rPr>
              <a:t>Goal</a:t>
            </a:r>
            <a:r>
              <a:rPr lang="en-GB" sz="2400" dirty="0"/>
              <a:t>: RISIS will sustain its role in </a:t>
            </a:r>
            <a:r>
              <a:rPr lang="en-GB" sz="3600" dirty="0">
                <a:solidFill>
                  <a:srgbClr val="0070C0"/>
                </a:solidFill>
              </a:rPr>
              <a:t>rese</a:t>
            </a:r>
            <a:r>
              <a:rPr lang="en-GB" sz="3600" dirty="0">
                <a:solidFill>
                  <a:schemeClr val="accent1"/>
                </a:solidFill>
              </a:rPr>
              <a:t>arch</a:t>
            </a:r>
            <a:r>
              <a:rPr lang="en-GB" sz="3600" dirty="0"/>
              <a:t> and </a:t>
            </a:r>
            <a:r>
              <a:rPr lang="en-GB" sz="3600" dirty="0">
                <a:solidFill>
                  <a:srgbClr val="FF0000"/>
                </a:solidFill>
              </a:rPr>
              <a:t>education</a:t>
            </a:r>
            <a:r>
              <a:rPr lang="en-GB" sz="2400" dirty="0"/>
              <a:t>,  keep working on theoretical and computational aspects of statistical machine learning and data science, while enhancing its teaching tools </a:t>
            </a:r>
          </a:p>
          <a:p>
            <a:endParaRPr lang="en-GB" sz="2400" b="1" dirty="0"/>
          </a:p>
          <a:p>
            <a:endParaRPr lang="en-GB" sz="2400" b="1" dirty="0"/>
          </a:p>
          <a:p>
            <a:endParaRPr lang="en-GB" sz="2400" b="1" dirty="0"/>
          </a:p>
          <a:p>
            <a:pPr marL="0" indent="0">
              <a:buNone/>
            </a:pPr>
            <a:endParaRPr lang="en-GB" sz="24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GB" sz="4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GB" sz="4000" dirty="0">
                <a:solidFill>
                  <a:srgbClr val="0070C0"/>
                </a:solidFill>
              </a:rPr>
              <a:t>How to</a:t>
            </a:r>
            <a:r>
              <a:rPr lang="en-GB" sz="2400" dirty="0"/>
              <a:t>:  RISIS will prioritize</a:t>
            </a:r>
            <a:r>
              <a:rPr lang="en-GB" sz="2400" b="1" dirty="0"/>
              <a:t> </a:t>
            </a:r>
            <a:r>
              <a:rPr lang="en-GB" sz="3600" b="1" dirty="0">
                <a:solidFill>
                  <a:srgbClr val="0070C0"/>
                </a:solidFill>
              </a:rPr>
              <a:t>interdisciplinary</a:t>
            </a:r>
            <a:r>
              <a:rPr lang="en-GB" sz="3600" b="1" dirty="0"/>
              <a:t> </a:t>
            </a:r>
            <a:r>
              <a:rPr lang="en-GB" sz="3600" b="1" dirty="0">
                <a:solidFill>
                  <a:schemeClr val="accent1"/>
                </a:solidFill>
              </a:rPr>
              <a:t>collaboration</a:t>
            </a:r>
            <a:r>
              <a:rPr lang="en-GB" sz="2400" dirty="0"/>
              <a:t>, strengthening connections between </a:t>
            </a:r>
            <a:r>
              <a:rPr lang="en-GB" sz="2400" dirty="0">
                <a:solidFill>
                  <a:srgbClr val="0070C0"/>
                </a:solidFill>
              </a:rPr>
              <a:t>statistical machine learning</a:t>
            </a:r>
            <a:r>
              <a:rPr lang="en-GB" sz="2400" dirty="0"/>
              <a:t>, </a:t>
            </a:r>
            <a:r>
              <a:rPr lang="en-GB" sz="2400" dirty="0">
                <a:solidFill>
                  <a:schemeClr val="accent1"/>
                </a:solidFill>
              </a:rPr>
              <a:t>informatics</a:t>
            </a:r>
            <a:r>
              <a:rPr lang="en-GB" sz="2400" dirty="0"/>
              <a:t>, and data-driven sciences</a:t>
            </a:r>
            <a:r>
              <a:rPr lang="en-GB" sz="2400" b="1" dirty="0"/>
              <a:t>, </a:t>
            </a:r>
            <a:r>
              <a:rPr lang="en-GB" sz="2400" dirty="0"/>
              <a:t>while expanding its educational offerings to align with evolving industry and academic demands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661F08-4F4C-12D6-04C3-5B47A0AED43C}"/>
              </a:ext>
            </a:extLst>
          </p:cNvPr>
          <p:cNvSpPr txBox="1">
            <a:spLocks/>
          </p:cNvSpPr>
          <p:nvPr/>
        </p:nvSpPr>
        <p:spPr bwMode="black">
          <a:xfrm>
            <a:off x="2231136" y="113354"/>
            <a:ext cx="7729728" cy="65792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/>
              <a:t>FUTURE</a:t>
            </a:r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9C40BEE8-1DDE-192E-AE6F-A02EA7E396D0}"/>
              </a:ext>
            </a:extLst>
          </p:cNvPr>
          <p:cNvSpPr/>
          <p:nvPr/>
        </p:nvSpPr>
        <p:spPr>
          <a:xfrm>
            <a:off x="5462587" y="2428875"/>
            <a:ext cx="876301" cy="1982268"/>
          </a:xfrm>
          <a:prstGeom prst="downArrow">
            <a:avLst>
              <a:gd name="adj1" fmla="val 50000"/>
              <a:gd name="adj2" fmla="val 49111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54667688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324</TotalTime>
  <Words>335</Words>
  <Application>Microsoft Macintosh PowerPoint</Application>
  <PresentationFormat>Widescreen</PresentationFormat>
  <Paragraphs>55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Gill Sans MT</vt:lpstr>
      <vt:lpstr>Parcel</vt:lpstr>
      <vt:lpstr>Research institute for statistics and information science (RISIS)</vt:lpstr>
      <vt:lpstr>PAST</vt:lpstr>
      <vt:lpstr>PowerPoint Presentation</vt:lpstr>
      <vt:lpstr>Present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La Vecchia</dc:creator>
  <cp:lastModifiedBy>Davide La Vecchia</cp:lastModifiedBy>
  <cp:revision>13</cp:revision>
  <dcterms:created xsi:type="dcterms:W3CDTF">2025-11-03T13:06:25Z</dcterms:created>
  <dcterms:modified xsi:type="dcterms:W3CDTF">2025-11-04T15:13:02Z</dcterms:modified>
</cp:coreProperties>
</file>